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0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Montserrat Medium" charset="0"/>
      <p:regular r:id="rId13"/>
    </p:embeddedFont>
    <p:embeddedFont>
      <p:font typeface="Inter Light" charset="0"/>
      <p:regular r:id="rId14"/>
    </p:embeddedFont>
    <p:embeddedFont>
      <p:font typeface="Inter Bold" charset="0"/>
      <p:regular r:id="rId15"/>
    </p:embeddedFont>
    <p:embeddedFont>
      <p:font typeface="Century Gothic" pitchFamily="34" charset="0"/>
      <p:regular r:id="rId16"/>
      <p:bold r:id="rId17"/>
      <p:italic r:id="rId18"/>
      <p:boldItalic r:id="rId19"/>
    </p:embeddedFont>
    <p:embeddedFont>
      <p:font typeface="Calibri" pitchFamily="34" charset="0"/>
      <p:regular r:id="rId20"/>
      <p:bold r:id="rId21"/>
      <p:italic r:id="rId22"/>
      <p:boldItalic r:id="rId23"/>
    </p:embeddedFont>
    <p:embeddedFont>
      <p:font typeface="Wingdings 2" pitchFamily="18" charset="2"/>
      <p:regular r:id="rId24"/>
    </p:embeddedFont>
    <p:embeddedFont>
      <p:font typeface="Verdana" pitchFamily="34" charset="0"/>
      <p:regular r:id="rId25"/>
      <p:bold r:id="rId26"/>
      <p:italic r:id="rId27"/>
      <p:boldItalic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1016" y="-3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790972" y="3778934"/>
            <a:ext cx="1419712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582216"/>
            <a:ext cx="8062912" cy="1102519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1687710"/>
            <a:ext cx="8062912" cy="131445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4509492"/>
            <a:ext cx="5791200" cy="273844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F8CFA630-13BB-46C4-BD44-B2C5F9B66074}" type="datetimeFigureOut">
              <a:rPr lang="en-US" smtClean="0"/>
              <a:pPr/>
              <a:t>6/28/2026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4238028"/>
            <a:ext cx="5791200" cy="273844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4314231"/>
            <a:ext cx="502920" cy="273844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620"/>
            <a:ext cx="8229600" cy="1049274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106"/>
            <a:ext cx="8229600" cy="3429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4860036"/>
            <a:ext cx="2133600" cy="226314"/>
          </a:xfrm>
        </p:spPr>
        <p:txBody>
          <a:bodyPr/>
          <a:lstStyle/>
          <a:p>
            <a:fld id="{F8CFA630-13BB-46C4-BD44-B2C5F9B66074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4860727"/>
            <a:ext cx="4260056" cy="225623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5276"/>
            <a:ext cx="9129932" cy="5127674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790972" y="70339"/>
            <a:ext cx="1419712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4857750"/>
            <a:ext cx="2133600" cy="228600"/>
          </a:xfrm>
        </p:spPr>
        <p:txBody>
          <a:bodyPr/>
          <a:lstStyle/>
          <a:p>
            <a:fld id="{F8CFA630-13BB-46C4-BD44-B2C5F9B66074}" type="datetimeFigureOut">
              <a:rPr lang="en-US" smtClean="0"/>
              <a:pPr/>
              <a:t>6/28/2026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4860727"/>
            <a:ext cx="4260056" cy="225623"/>
          </a:xfrm>
        </p:spPr>
        <p:txBody>
          <a:bodyPr/>
          <a:lstStyle/>
          <a:p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607219"/>
            <a:ext cx="502920" cy="225623"/>
          </a:xfrm>
        </p:spPr>
        <p:txBody>
          <a:bodyPr/>
          <a:lstStyle/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5" y="7036"/>
            <a:ext cx="2672861" cy="1425158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5276"/>
            <a:ext cx="9136966" cy="5132950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03599"/>
            <a:ext cx="7239000" cy="1021556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25152"/>
            <a:ext cx="3886200" cy="17145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1828"/>
            <a:ext cx="4038600" cy="3394472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1828"/>
            <a:ext cx="4038600" cy="3394472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4860727"/>
            <a:ext cx="2133600" cy="226314"/>
          </a:xfrm>
        </p:spPr>
        <p:txBody>
          <a:bodyPr/>
          <a:lstStyle/>
          <a:p>
            <a:fld id="{F8CFA630-13BB-46C4-BD44-B2C5F9B66074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4860727"/>
            <a:ext cx="4260056" cy="226314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4860727"/>
            <a:ext cx="502920" cy="226314"/>
          </a:xfrm>
        </p:spPr>
        <p:txBody>
          <a:bodyPr/>
          <a:lstStyle/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18049"/>
            <a:ext cx="1066800" cy="4615434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18049"/>
            <a:ext cx="581024" cy="226314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2570343"/>
            <a:ext cx="581024" cy="226314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18049"/>
            <a:ext cx="6858000" cy="226314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2570343"/>
            <a:ext cx="6858000" cy="22631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4860727"/>
            <a:ext cx="2130552" cy="226314"/>
          </a:xfrm>
        </p:spPr>
        <p:txBody>
          <a:bodyPr/>
          <a:lstStyle/>
          <a:p>
            <a:fld id="{F8CFA630-13BB-46C4-BD44-B2C5F9B66074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4860727"/>
            <a:ext cx="4261104" cy="226314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4862322"/>
            <a:ext cx="502920" cy="226314"/>
          </a:xfrm>
        </p:spPr>
        <p:txBody>
          <a:bodyPr/>
          <a:lstStyle>
            <a:lvl1pPr algn="ctr">
              <a:defRPr/>
            </a:lvl1pPr>
          </a:lstStyle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A630-13BB-46C4-BD44-B2C5F9B66074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4860727"/>
            <a:ext cx="2133600" cy="226314"/>
          </a:xfrm>
        </p:spPr>
        <p:txBody>
          <a:bodyPr/>
          <a:lstStyle/>
          <a:p>
            <a:fld id="{F8CFA630-13BB-46C4-BD44-B2C5F9B66074}" type="datetimeFigureOut">
              <a:rPr lang="en-US" smtClean="0"/>
              <a:pPr/>
              <a:t>6/28/2026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4861418"/>
            <a:ext cx="4260056" cy="225623"/>
          </a:xfrm>
        </p:spPr>
        <p:txBody>
          <a:bodyPr/>
          <a:lstStyle/>
          <a:p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4860727"/>
            <a:ext cx="502920" cy="226314"/>
          </a:xfrm>
        </p:spPr>
        <p:txBody>
          <a:bodyPr/>
          <a:lstStyle/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275748"/>
            <a:ext cx="914400" cy="44577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275748"/>
            <a:ext cx="2438400" cy="44577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240030"/>
            <a:ext cx="5276088" cy="449199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4917186"/>
            <a:ext cx="2133600" cy="226314"/>
          </a:xfrm>
        </p:spPr>
        <p:txBody>
          <a:bodyPr/>
          <a:lstStyle>
            <a:lvl1pPr>
              <a:defRPr sz="900"/>
            </a:lvl1pPr>
          </a:lstStyle>
          <a:p>
            <a:fld id="{F8CFA630-13BB-46C4-BD44-B2C5F9B66074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4917186"/>
            <a:ext cx="5143120" cy="226314"/>
          </a:xfrm>
        </p:spPr>
        <p:txBody>
          <a:bodyPr/>
          <a:lstStyle>
            <a:lvl1pPr>
              <a:defRPr sz="900"/>
            </a:lvl1pPr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4917186"/>
            <a:ext cx="502920" cy="226314"/>
          </a:xfrm>
        </p:spPr>
        <p:txBody>
          <a:bodyPr/>
          <a:lstStyle>
            <a:lvl1pPr>
              <a:defRPr sz="900"/>
            </a:lvl1pPr>
          </a:lstStyle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13172"/>
            <a:ext cx="914400" cy="48006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280475"/>
            <a:ext cx="7333488" cy="41148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4400550"/>
            <a:ext cx="7333488" cy="51435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4917186"/>
            <a:ext cx="2103120" cy="226314"/>
          </a:xfrm>
        </p:spPr>
        <p:txBody>
          <a:bodyPr/>
          <a:lstStyle>
            <a:lvl1pPr>
              <a:defRPr sz="900"/>
            </a:lvl1pPr>
          </a:lstStyle>
          <a:p>
            <a:fld id="{F8CFA630-13BB-46C4-BD44-B2C5F9B66074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4917877"/>
            <a:ext cx="4948072" cy="226314"/>
          </a:xfrm>
        </p:spPr>
        <p:txBody>
          <a:bodyPr/>
          <a:lstStyle>
            <a:lvl1pPr>
              <a:defRPr sz="900"/>
            </a:lvl1pPr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4917186"/>
            <a:ext cx="365760" cy="226314"/>
          </a:xfrm>
        </p:spPr>
        <p:txBody>
          <a:bodyPr/>
          <a:lstStyle>
            <a:lvl1pPr algn="ctr">
              <a:defRPr sz="900"/>
            </a:lvl1pPr>
          </a:lstStyle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A630-13BB-46C4-BD44-B2C5F9B66074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85750"/>
            <a:ext cx="1905000" cy="41148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85750"/>
            <a:ext cx="6248400" cy="41148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A630-13BB-46C4-BD44-B2C5F9B66074}" type="datetimeFigureOut">
              <a:rPr lang="en-US" smtClean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0552"/>
            <a:ext cx="9129932" cy="5127674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5276"/>
            <a:ext cx="9136966" cy="5132950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5" y="3711307"/>
            <a:ext cx="2672861" cy="1425158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00620"/>
            <a:ext cx="8229600" cy="1049274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412106"/>
            <a:ext cx="8229600" cy="3429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4860727"/>
            <a:ext cx="2133600" cy="226314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F8CFA630-13BB-46C4-BD44-B2C5F9B66074}" type="datetimeFigureOut">
              <a:rPr lang="en-US" smtClean="0"/>
              <a:pPr/>
              <a:t>6/28/2026</a:t>
            </a:fld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4861418"/>
            <a:ext cx="4260056" cy="225623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 algn="r" eaLnBrk="1" latinLnBrk="0" hangingPunct="1"/>
            <a:endParaRPr kumimoji="0" lang="en-US" sz="10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4860727"/>
            <a:ext cx="502920" cy="226314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pPr algn="r" eaLnBrk="1" latinLnBrk="0" hangingPunct="1"/>
            <a:fld id="{BC5217A8-0E06-4059-AC45-433E2E67A85D}" type="slidenum">
              <a:rPr kumimoji="0" lang="en-US" smtClean="0"/>
              <a:pPr algn="r" eaLnBrk="1" latinLnBrk="0" hangingPunct="1"/>
              <a:t>‹#›</a:t>
            </a:fld>
            <a:endParaRPr kumimoji="0" lang="en-US" sz="1100" dirty="0">
              <a:solidFill>
                <a:schemeClr val="tx2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</p:sldLayoutIdLst>
  <p:hf sldNum="0" hdr="0" ftr="0" dt="0"/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jpeg"/><Relationship Id="rId3" Type="http://schemas.openxmlformats.org/officeDocument/2006/relationships/image" Target="../media/image5.png"/><Relationship Id="rId7" Type="http://schemas.openxmlformats.org/officeDocument/2006/relationships/image" Target="../media/image-6-3.svg"/><Relationship Id="rId12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7.jpeg"/><Relationship Id="rId5" Type="http://schemas.openxmlformats.org/officeDocument/2006/relationships/image" Target="../media/image-6-3.svg"/><Relationship Id="rId10" Type="http://schemas.openxmlformats.org/officeDocument/2006/relationships/image" Target="../media/image6.jpeg"/><Relationship Id="rId4" Type="http://schemas.openxmlformats.org/officeDocument/2006/relationships/image" Target="../media/image-6-3.svg"/><Relationship Id="rId9" Type="http://schemas.openxmlformats.org/officeDocument/2006/relationships/image" Target="../media/image-6-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5575" y="837431"/>
            <a:ext cx="4722763" cy="1018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Customer Shopping Behavior Analysis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55575" y="2272145"/>
            <a:ext cx="4722763" cy="1075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End-to-End Data Analytics Project using </a:t>
            </a:r>
            <a:r>
              <a:rPr lang="en-US" b="1" dirty="0">
                <a:latin typeface="Times New Roman" pitchFamily="18" charset="0"/>
                <a:ea typeface="Inter Bold" pitchFamily="34" charset="-122"/>
                <a:cs typeface="Times New Roman" pitchFamily="18" charset="0"/>
              </a:rPr>
              <a:t>Python</a:t>
            </a:r>
            <a:r>
              <a:rPr lang="en-US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, </a:t>
            </a:r>
            <a:r>
              <a:rPr lang="en-US" b="1" dirty="0">
                <a:latin typeface="Times New Roman" pitchFamily="18" charset="0"/>
                <a:ea typeface="Inter Bold" pitchFamily="34" charset="-122"/>
                <a:cs typeface="Times New Roman" pitchFamily="18" charset="0"/>
              </a:rPr>
              <a:t>PostgreSQL</a:t>
            </a:r>
            <a:r>
              <a:rPr lang="en-US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 &amp; </a:t>
            </a:r>
            <a:r>
              <a:rPr lang="en-US" b="1" dirty="0">
                <a:latin typeface="Times New Roman" pitchFamily="18" charset="0"/>
                <a:ea typeface="Inter Bold" pitchFamily="34" charset="-122"/>
                <a:cs typeface="Times New Roman" pitchFamily="18" charset="0"/>
              </a:rPr>
              <a:t>Power BI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06" name="AutoShape 2" descr="blob:https://web.whatsapp.com/7d896280-2c8a-4283-b970-54c25a2a8799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WhatsApp Image 2026-06-28 at 12.40.59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882" y="0"/>
            <a:ext cx="420913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640" y="559035"/>
            <a:ext cx="638033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Executive Summary &amp; Objectives</a:t>
            </a:r>
            <a:endParaRPr lang="en-US" sz="275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9523" y="128022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This project analyzes a retail customer shopping behavior dataset to identify purchasing trends, customer segments, product performance, and revenue opportunities</a:t>
            </a:r>
            <a:r>
              <a:rPr lang="en-US" sz="1400" dirty="0">
                <a:solidFill>
                  <a:srgbClr val="3D3E44"/>
                </a:solidFill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2120131"/>
            <a:ext cx="2622724" cy="1274638"/>
          </a:xfrm>
          <a:prstGeom prst="roundRect">
            <a:avLst>
              <a:gd name="adj" fmla="val 1001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5" name="Text 3"/>
          <p:cNvSpPr/>
          <p:nvPr/>
        </p:nvSpPr>
        <p:spPr>
          <a:xfrm>
            <a:off x="642640" y="22666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D3E44"/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Purchase Behavior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2640" y="2709565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Understand customer purchasing patterns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60601" y="2120131"/>
            <a:ext cx="2622724" cy="1274638"/>
          </a:xfrm>
          <a:prstGeom prst="roundRect">
            <a:avLst>
              <a:gd name="adj" fmla="val 1001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8" name="Text 6"/>
          <p:cNvSpPr/>
          <p:nvPr/>
        </p:nvSpPr>
        <p:spPr>
          <a:xfrm>
            <a:off x="3407122" y="2266652"/>
            <a:ext cx="19450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D3E44"/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Product</a:t>
            </a:r>
            <a:r>
              <a:rPr lang="en-US" sz="1350" b="1" dirty="0">
                <a:solidFill>
                  <a:srgbClr val="3D3E44"/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 </a:t>
            </a:r>
            <a:r>
              <a:rPr lang="en-US" sz="1400" b="1" dirty="0">
                <a:solidFill>
                  <a:srgbClr val="3D3E44"/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Performance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07122" y="2794620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Identify high-performing products and categories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25083" y="2120131"/>
            <a:ext cx="2622724" cy="1274638"/>
          </a:xfrm>
          <a:prstGeom prst="roundRect">
            <a:avLst>
              <a:gd name="adj" fmla="val 1001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11" name="Text 9"/>
          <p:cNvSpPr/>
          <p:nvPr/>
        </p:nvSpPr>
        <p:spPr>
          <a:xfrm>
            <a:off x="6171605" y="2266652"/>
            <a:ext cx="23296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D3E44"/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Discounts &amp; Subscriptions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71605" y="2794620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Measure the impact of subscriptions and discounts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96119" y="3536528"/>
            <a:ext cx="4004965" cy="826368"/>
          </a:xfrm>
          <a:prstGeom prst="roundRect">
            <a:avLst>
              <a:gd name="adj" fmla="val 1544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14" name="Text 12"/>
          <p:cNvSpPr/>
          <p:nvPr/>
        </p:nvSpPr>
        <p:spPr>
          <a:xfrm>
            <a:off x="642640" y="3683050"/>
            <a:ext cx="221865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D3E44"/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Customer Segmentation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2640" y="3989561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Segment customers based on purchase history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42842" y="3536528"/>
            <a:ext cx="4004965" cy="826368"/>
          </a:xfrm>
          <a:prstGeom prst="roundRect">
            <a:avLst>
              <a:gd name="adj" fmla="val 1544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17" name="Text 15"/>
          <p:cNvSpPr/>
          <p:nvPr/>
        </p:nvSpPr>
        <p:spPr>
          <a:xfrm>
            <a:off x="4789363" y="3683050"/>
            <a:ext cx="19935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D3E44"/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Interactive Dashboard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89363" y="3989561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Build a Power BI dashboard for decision-making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650"/>
            <a:ext cx="5217691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Technology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 Stack &amp; Dataset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013772" y="1137865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Technology Stack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013772" y="1477714"/>
            <a:ext cx="2638797" cy="1446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Python (Pandas, NumPy, Matplotlib, Seaborn)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PostgreSQL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Power BI Desktop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Jupyter Notebook / VS Code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Git &amp; GitHub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013772" y="3053209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Dataset Summary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013772" y="3393058"/>
            <a:ext cx="2638797" cy="1311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3,900+ records, 18 features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Customer ID, Age, Gender, Purchase Amount, Category, Review Rating, Subscription Status, Discount Applied, Shipping Type, Payment Method, Frequency of Purchases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86" name="AutoShape 2" descr="blob:https://web.whatsapp.com/391f1d04-817a-41d0-970d-a9cc871a431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88" name="AutoShape 4" descr="blob:https://web.whatsapp.com/391f1d04-817a-41d0-970d-a9cc871a431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90" name="AutoShape 6" descr="blob:https://web.whatsapp.com/391f1d04-817a-41d0-970d-a9cc871a431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92" name="AutoShape 8" descr="blob:https://web.whatsapp.com/391f1d04-817a-41d0-970d-a9cc871a431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94" name="AutoShape 10" descr="blob:https://web.whatsapp.com/391f1d04-817a-41d0-970d-a9cc871a431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96" name="AutoShape 12" descr="blob:https://web.whatsapp.com/391f1d04-817a-41d0-970d-a9cc871a431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98" name="AutoShape 14" descr="blob:https://web.whatsapp.com/391f1d04-817a-41d0-970d-a9cc871a431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400" name="AutoShape 16" descr="blob:https://web.whatsapp.com/391f1d04-817a-41d0-970d-a9cc871a431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402" name="AutoShape 18" descr="blob:https://web.whatsapp.com/391f1d04-817a-41d0-970d-a9cc871a431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7" name="Picture 16" descr="WhatsApp Image 2026-06-27 at 10.48.15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1486"/>
            <a:ext cx="5713810" cy="41720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1590" y="390004"/>
            <a:ext cx="339216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Project Workflow</a:t>
            </a:r>
            <a:endParaRPr lang="en-US" sz="32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17731"/>
            <a:ext cx="8151763" cy="3521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41329" y="3166256"/>
            <a:ext cx="1210397" cy="440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Data Cleaning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441329" y="3669864"/>
            <a:ext cx="1210397" cy="48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Python preprocessing and validation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93755" y="3449413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PostgreSQL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549316" y="3831038"/>
            <a:ext cx="1210397" cy="322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Store cleaned, structured data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91193" y="1269033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dirty="0"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Raw CSV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91193" y="1713364"/>
            <a:ext cx="1210397" cy="322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Source retail transaction </a:t>
            </a:r>
            <a:r>
              <a:rPr lang="en-US" sz="12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files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053279" y="1269033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Power BI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053279" y="1552190"/>
            <a:ext cx="1210397" cy="322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Visualize metrics and trends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014612" y="1269033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EDA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014612" y="1552190"/>
            <a:ext cx="1210397" cy="322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Explore patterns and anomalies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96119" y="4581748"/>
            <a:ext cx="86089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A complete end-to-end pipeline transforms raw retail data into actionable business intelligence using Python, PostgreSQL, and Power BI.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2945"/>
            <a:ext cx="500866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Exploratory Data Analysis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797397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3,900</a:t>
            </a:r>
            <a:endParaRPr lang="en-US" sz="36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09637" y="22652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Total Records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72433" y="1797397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18</a:t>
            </a:r>
            <a:endParaRPr lang="en-US" sz="36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85952" y="22652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48747" y="1797397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44</a:t>
            </a:r>
            <a:endParaRPr lang="en-US" sz="36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62266" y="22652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Avg Age (yrs)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884238" y="2841054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$59.76</a:t>
            </a:r>
            <a:endParaRPr lang="en-US" sz="36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297757" y="348600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Avg Purchase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60553" y="2841054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3.75</a:t>
            </a:r>
            <a:endParaRPr lang="en-US" sz="36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74072" y="348600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Avg Rating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6119" y="386692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Most customers are </a:t>
            </a:r>
            <a:r>
              <a:rPr lang="en-US" sz="1100" b="1" dirty="0">
                <a:latin typeface="Times New Roman" pitchFamily="18" charset="0"/>
                <a:ea typeface="Inter Bold" pitchFamily="34" charset="-122"/>
                <a:cs typeface="Times New Roman" pitchFamily="18" charset="0"/>
              </a:rPr>
              <a:t>Male</a:t>
            </a:r>
            <a:r>
              <a:rPr lang="en-US" sz="11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. </a:t>
            </a:r>
            <a:r>
              <a:rPr lang="en-US" sz="1100" b="1" dirty="0">
                <a:latin typeface="Times New Roman" pitchFamily="18" charset="0"/>
                <a:ea typeface="Inter Bold" pitchFamily="34" charset="-122"/>
                <a:cs typeface="Times New Roman" pitchFamily="18" charset="0"/>
              </a:rPr>
              <a:t>Clothing</a:t>
            </a:r>
            <a:r>
              <a:rPr lang="en-US" sz="11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 is the most purchased category. These baseline metrics informed subsequent SQL and Power BI analysis.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396925"/>
            <a:ext cx="4722763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SQL Analysis — Revenue &amp; Spending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925119" y="1237804"/>
            <a:ext cx="4722763" cy="8096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09517" y="1365052"/>
            <a:ext cx="164938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Q1</a:t>
            </a:r>
            <a:r>
              <a:rPr lang="en-US" sz="1200" b="1" dirty="0">
                <a:solidFill>
                  <a:srgbClr val="3D3E44"/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: Revenue by Gender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109517" y="1595512"/>
            <a:ext cx="44111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Male: </a:t>
            </a:r>
            <a:r>
              <a:rPr lang="en-US" sz="1100" b="1" dirty="0">
                <a:solidFill>
                  <a:srgbClr val="3D3E44"/>
                </a:solidFill>
                <a:latin typeface="Times New Roman" pitchFamily="18" charset="0"/>
                <a:ea typeface="Inter Bold" pitchFamily="34" charset="-122"/>
                <a:cs typeface="Times New Roman" pitchFamily="18" charset="0"/>
              </a:rPr>
              <a:t>$157,890</a:t>
            </a:r>
            <a:r>
              <a:rPr lang="en-US" sz="1100" dirty="0">
                <a:solidFill>
                  <a:srgbClr val="3D3E44"/>
                </a:solidFill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 | Female: </a:t>
            </a:r>
            <a:r>
              <a:rPr lang="en-US" sz="1100" b="1" dirty="0">
                <a:solidFill>
                  <a:srgbClr val="3D3E44"/>
                </a:solidFill>
                <a:latin typeface="Times New Roman" pitchFamily="18" charset="0"/>
                <a:ea typeface="Inter Bold" pitchFamily="34" charset="-122"/>
                <a:cs typeface="Times New Roman" pitchFamily="18" charset="0"/>
              </a:rPr>
              <a:t>$75,191</a:t>
            </a:r>
            <a:r>
              <a:rPr lang="en-US" sz="1100" dirty="0">
                <a:solidFill>
                  <a:srgbClr val="3D3E44"/>
                </a:solidFill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 — Male customers generated significantly higher revenue, indicating a larger contribution to total sales.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925119" y="2137470"/>
            <a:ext cx="4722763" cy="80969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09517" y="2264718"/>
            <a:ext cx="265896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D3E44"/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Q2: Discount + Above-Average Spend</a:t>
            </a:r>
            <a:endParaRPr lang="en-US" sz="11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4109517" y="2495178"/>
            <a:ext cx="44111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Several customers purchased above the average amount despite receiving discounts, suggesting discounts successfully encouraged higher spending.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925119" y="3037136"/>
            <a:ext cx="4722763" cy="80969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09517" y="3164384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E44"/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Q4: Shipping Type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4109517" y="3394844"/>
            <a:ext cx="44111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Express: </a:t>
            </a:r>
            <a:r>
              <a:rPr lang="en-US" sz="1400" b="1" dirty="0">
                <a:solidFill>
                  <a:srgbClr val="3D3E44"/>
                </a:solidFill>
                <a:latin typeface="Times New Roman" pitchFamily="18" charset="0"/>
                <a:ea typeface="Inter Bold" pitchFamily="34" charset="-122"/>
                <a:cs typeface="Times New Roman" pitchFamily="18" charset="0"/>
              </a:rPr>
              <a:t>$60.48</a:t>
            </a:r>
            <a:r>
              <a:rPr lang="en-US" sz="1400" dirty="0">
                <a:solidFill>
                  <a:srgbClr val="3D3E44"/>
                </a:solidFill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 | Standard: </a:t>
            </a:r>
            <a:r>
              <a:rPr lang="en-US" sz="1400" b="1" dirty="0">
                <a:solidFill>
                  <a:srgbClr val="3D3E44"/>
                </a:solidFill>
                <a:latin typeface="Times New Roman" pitchFamily="18" charset="0"/>
                <a:ea typeface="Inter Bold" pitchFamily="34" charset="-122"/>
                <a:cs typeface="Times New Roman" pitchFamily="18" charset="0"/>
              </a:rPr>
              <a:t>$58.46</a:t>
            </a:r>
            <a:r>
              <a:rPr lang="en-US" sz="1400" dirty="0">
                <a:solidFill>
                  <a:srgbClr val="3D3E44"/>
                </a:solidFill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 — Express Shipping customers spend slightly more on average</a:t>
            </a:r>
            <a:r>
              <a:rPr lang="en-US" sz="8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3925119" y="3936802"/>
            <a:ext cx="4722763" cy="80969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109517" y="4064050"/>
            <a:ext cx="252278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E44"/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Q5: Subscribers vs Non-Subscribers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4109517" y="4294510"/>
            <a:ext cx="44111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Similar average purchase amounts, but non-subscribers contribute a larger share of total revenue due to their higher customer count.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Picture 15" descr="WhatsApp Image 2026-06-28 at 11.20.07 AM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061" y="762629"/>
            <a:ext cx="2520950" cy="787400"/>
          </a:xfrm>
          <a:prstGeom prst="rect">
            <a:avLst/>
          </a:prstGeom>
        </p:spPr>
      </p:pic>
      <p:pic>
        <p:nvPicPr>
          <p:cNvPr id="17" name="Picture 16"/>
          <p:cNvPicPr/>
          <p:nvPr/>
        </p:nvPicPr>
        <p:blipFill>
          <a:blip r:embed="rId11"/>
          <a:stretch>
            <a:fillRect/>
          </a:stretch>
        </p:blipFill>
        <p:spPr>
          <a:xfrm>
            <a:off x="771861" y="1602849"/>
            <a:ext cx="2520950" cy="1217072"/>
          </a:xfrm>
          <a:prstGeom prst="rect">
            <a:avLst/>
          </a:prstGeom>
        </p:spPr>
      </p:pic>
      <p:pic>
        <p:nvPicPr>
          <p:cNvPr id="18" name="Picture 17"/>
          <p:cNvPicPr/>
          <p:nvPr/>
        </p:nvPicPr>
        <p:blipFill>
          <a:blip r:embed="rId12"/>
          <a:stretch>
            <a:fillRect/>
          </a:stretch>
        </p:blipFill>
        <p:spPr>
          <a:xfrm>
            <a:off x="0" y="2947169"/>
            <a:ext cx="3124200" cy="899666"/>
          </a:xfrm>
          <a:prstGeom prst="rect">
            <a:avLst/>
          </a:prstGeom>
        </p:spPr>
      </p:pic>
      <p:pic>
        <p:nvPicPr>
          <p:cNvPr id="19" name="Picture 18"/>
          <p:cNvPicPr/>
          <p:nvPr/>
        </p:nvPicPr>
        <p:blipFill>
          <a:blip r:embed="rId13"/>
          <a:stretch>
            <a:fillRect/>
          </a:stretch>
        </p:blipFill>
        <p:spPr>
          <a:xfrm>
            <a:off x="955965" y="3936802"/>
            <a:ext cx="2722418" cy="9255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3337"/>
            <a:ext cx="847747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SQL Analysis — Products, Ratings &amp; Segments</a:t>
            </a:r>
            <a:endParaRPr lang="en-US" sz="2700" b="1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264965"/>
            <a:ext cx="2517279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Q3: Top-Rated Products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1612478"/>
            <a:ext cx="2635300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Gloves, Sandals, Boots, Hat, Skirt — Gloves received the highest average customer rating, followed by Sandals and Boots, demonstrating high satisfaction</a:t>
            </a: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96119" y="2610743"/>
            <a:ext cx="290214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Q6: Highest Discount Usage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6119" y="2958257"/>
            <a:ext cx="2635300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Hat, Sneakers, Coat, Sweater, Pants — Hat purchases received discounts most frequently.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6119" y="3740200"/>
            <a:ext cx="304048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Q8: Top Products by Category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4087713"/>
            <a:ext cx="263530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endParaRPr lang="en-US" sz="1050" dirty="0"/>
          </a:p>
        </p:txBody>
      </p:sp>
      <p:pic>
        <p:nvPicPr>
          <p:cNvPr id="10" name="Picture 9"/>
          <p:cNvPicPr/>
          <p:nvPr/>
        </p:nvPicPr>
        <p:blipFill>
          <a:blip r:embed="rId3"/>
          <a:stretch>
            <a:fillRect/>
          </a:stretch>
        </p:blipFill>
        <p:spPr>
          <a:xfrm>
            <a:off x="5968075" y="936095"/>
            <a:ext cx="2765221" cy="1352766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4"/>
          <a:stretch>
            <a:fillRect/>
          </a:stretch>
        </p:blipFill>
        <p:spPr>
          <a:xfrm>
            <a:off x="3398267" y="2260550"/>
            <a:ext cx="2999509" cy="1129457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5"/>
          <a:stretch>
            <a:fillRect/>
          </a:stretch>
        </p:blipFill>
        <p:spPr>
          <a:xfrm>
            <a:off x="5652655" y="3390006"/>
            <a:ext cx="3494655" cy="16784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1104"/>
            <a:ext cx="8145066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Customer Segmentation &amp; Age Group Revenue</a:t>
            </a:r>
            <a:endParaRPr lang="en-US" sz="2500" b="1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193527"/>
            <a:ext cx="277624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Q7: Customer Segmentation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1510605"/>
            <a:ext cx="2649364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Loyal customers: </a:t>
            </a:r>
            <a:r>
              <a:rPr lang="en-US" sz="1200" b="1" dirty="0">
                <a:latin typeface="Times New Roman" pitchFamily="18" charset="0"/>
                <a:ea typeface="Inter Bold" pitchFamily="34" charset="-122"/>
                <a:cs typeface="Times New Roman" pitchFamily="18" charset="0"/>
              </a:rPr>
              <a:t>3,476</a:t>
            </a:r>
            <a:r>
              <a:rPr lang="en-US" sz="12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 | Returning: </a:t>
            </a:r>
            <a:r>
              <a:rPr lang="en-US" sz="1200" b="1" dirty="0">
                <a:latin typeface="Times New Roman" pitchFamily="18" charset="0"/>
                <a:ea typeface="Inter Bold" pitchFamily="34" charset="-122"/>
                <a:cs typeface="Times New Roman" pitchFamily="18" charset="0"/>
              </a:rPr>
              <a:t>424</a:t>
            </a:r>
            <a:r>
              <a:rPr lang="en-US" sz="12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 </a:t>
            </a:r>
            <a:r>
              <a:rPr lang="en-US" sz="1200" dirty="0" smtClean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The </a:t>
            </a:r>
            <a:r>
              <a:rPr lang="en-US" sz="12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majority are loyal, indicating strong retention.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2331170"/>
            <a:ext cx="2649364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Q9: Repeat Buyers &amp; Subscription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6119" y="2732559"/>
            <a:ext cx="2649364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b="1" dirty="0">
                <a:latin typeface="Times New Roman" pitchFamily="18" charset="0"/>
                <a:ea typeface="Inter Bold" pitchFamily="34" charset="-122"/>
                <a:cs typeface="Times New Roman" pitchFamily="18" charset="0"/>
              </a:rPr>
              <a:t>72.44%</a:t>
            </a:r>
            <a:r>
              <a:rPr lang="en-US" sz="12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 non-subscribers | </a:t>
            </a:r>
            <a:r>
              <a:rPr lang="en-US" sz="1200" b="1" dirty="0">
                <a:latin typeface="Times New Roman" pitchFamily="18" charset="0"/>
                <a:ea typeface="Inter Bold" pitchFamily="34" charset="-122"/>
                <a:cs typeface="Times New Roman" pitchFamily="18" charset="0"/>
              </a:rPr>
              <a:t>27.56%</a:t>
            </a:r>
            <a:r>
              <a:rPr lang="en-US" sz="12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 subscribers — Most repeat buyers are still non-subscribers, suggesting an opportunity to convert loyal customers into subscription members.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6119" y="3828604"/>
            <a:ext cx="271254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Q10: Revenue by Age Group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6119" y="4145682"/>
            <a:ext cx="264936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Customers aged </a:t>
            </a:r>
            <a:r>
              <a:rPr lang="en-US" sz="1000" b="1" dirty="0">
                <a:latin typeface="Times New Roman" pitchFamily="18" charset="0"/>
                <a:ea typeface="Inter Bold" pitchFamily="34" charset="-122"/>
                <a:cs typeface="Times New Roman" pitchFamily="18" charset="0"/>
              </a:rPr>
              <a:t>56+</a:t>
            </a:r>
            <a:r>
              <a:rPr lang="en-US" sz="10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 contribute the highest revenue, followed by the </a:t>
            </a:r>
            <a:r>
              <a:rPr lang="en-US" sz="1000" b="1" dirty="0">
                <a:latin typeface="Times New Roman" pitchFamily="18" charset="0"/>
                <a:ea typeface="Inter Bold" pitchFamily="34" charset="-122"/>
                <a:cs typeface="Times New Roman" pitchFamily="18" charset="0"/>
              </a:rPr>
              <a:t>46–55</a:t>
            </a:r>
            <a:r>
              <a:rPr lang="en-US" sz="10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 age group.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/>
          <p:cNvPicPr/>
          <p:nvPr/>
        </p:nvPicPr>
        <p:blipFill>
          <a:blip r:embed="rId3"/>
          <a:stretch>
            <a:fillRect/>
          </a:stretch>
        </p:blipFill>
        <p:spPr>
          <a:xfrm>
            <a:off x="3941617" y="971933"/>
            <a:ext cx="3738481" cy="1242853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4"/>
          <a:stretch>
            <a:fillRect/>
          </a:stretch>
        </p:blipFill>
        <p:spPr>
          <a:xfrm>
            <a:off x="4055190" y="2474342"/>
            <a:ext cx="2945548" cy="1354262"/>
          </a:xfrm>
          <a:prstGeom prst="rect">
            <a:avLst/>
          </a:prstGeom>
        </p:spPr>
      </p:pic>
      <p:pic>
        <p:nvPicPr>
          <p:cNvPr id="12" name="Picture 11" descr="C:\Users\HP\AppData\Local\Packages\5319275A.WhatsAppDesktop_cv1g1gvanyjgm\LocalState\sessions\EE6FCDB1F2EC26BEB2DF4DBDCC2ED89CAD77B62B\transfers\2026-26\WhatsApp Image 2026-06-28 at 11.53.26 AM.jpeg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46508" y="3828604"/>
            <a:ext cx="2597492" cy="1221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56990" y="453405"/>
            <a:ext cx="3924226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Power BI Dashboard</a:t>
            </a:r>
            <a:endParaRPr lang="en-US" sz="2600" b="1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96119" y="1055563"/>
            <a:ext cx="4722763" cy="763712"/>
          </a:xfrm>
          <a:prstGeom prst="roundRect">
            <a:avLst>
              <a:gd name="adj" fmla="val 15662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3785" y="119322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KPIs</a:t>
            </a:r>
            <a:endParaRPr lang="en-US" sz="1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33785" y="1475631"/>
            <a:ext cx="44474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4K customers · $59.76 avg purchase · 3.75 avg rating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96119" y="1943844"/>
            <a:ext cx="4722763" cy="763712"/>
          </a:xfrm>
          <a:prstGeom prst="roundRect">
            <a:avLst>
              <a:gd name="adj" fmla="val 15662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3785" y="2081510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Visuals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33785" y="2363912"/>
            <a:ext cx="44474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Revenue &amp; Sales by Category and Age Group, Subscription Distribution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96119" y="2832125"/>
            <a:ext cx="4722763" cy="763712"/>
          </a:xfrm>
          <a:prstGeom prst="roundRect">
            <a:avLst>
              <a:gd name="adj" fmla="val 15662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3785" y="2969791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Filters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33785" y="3252192"/>
            <a:ext cx="44474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Gender, Subscription Status, Category, Shipping Type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96119" y="3720405"/>
            <a:ext cx="4722763" cy="969690"/>
          </a:xfrm>
          <a:prstGeom prst="roundRect">
            <a:avLst>
              <a:gd name="adj" fmla="val 1233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3785" y="3858071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Insights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33785" y="4140473"/>
            <a:ext cx="444743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Clothing leads revenue; seniors drive largest share; only 27% subscribers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Picture 15"/>
          <p:cNvPicPr/>
          <p:nvPr/>
        </p:nvPicPr>
        <p:blipFill>
          <a:blip r:embed="rId3"/>
          <a:stretch>
            <a:fillRect/>
          </a:stretch>
        </p:blipFill>
        <p:spPr>
          <a:xfrm rot="5400000">
            <a:off x="4876044" y="830488"/>
            <a:ext cx="5098441" cy="34374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6989"/>
            <a:ext cx="857019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Key Insights, Recommendations &amp; Future Scope</a:t>
            </a:r>
            <a:endParaRPr lang="en-US" sz="2600" b="1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283717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Key Insights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1615976"/>
            <a:ext cx="3913808" cy="186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Clothing contributes the highest sales and revenue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Adults and middle-aged customers generate the largest revenue share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Subscribers generally contribute higher revenue than non-subscribers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Products with higher ratings tend to perform better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Discount campaigns improve customer purchases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Repeat buyers show stronger subscription adoption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38836" y="1283717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latin typeface="Times New Roman" pitchFamily="18" charset="0"/>
                <a:ea typeface="Montserrat Medium" pitchFamily="34" charset="-122"/>
                <a:cs typeface="Times New Roman" pitchFamily="18" charset="0"/>
              </a:rPr>
              <a:t>Recommendations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38836" y="1615976"/>
            <a:ext cx="3913808" cy="207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Strengthen loyalty and membership programs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Target marketing campaigns toward high-value customer segments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Promote highly-rated products more aggressively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Offer personalized recommendations using previous purchase history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Optimize discount campaigns based on product performance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Improve inventory planning for top-selling categories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96119" y="3871540"/>
            <a:ext cx="8151763" cy="714970"/>
          </a:xfrm>
          <a:prstGeom prst="roundRect">
            <a:avLst>
              <a:gd name="adj" fmla="val 16730"/>
            </a:avLst>
          </a:prstGeom>
          <a:solidFill>
            <a:srgbClr val="DFE1E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22" y="4059436"/>
            <a:ext cx="166092" cy="132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28018" y="4029298"/>
            <a:ext cx="758696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18" charset="0"/>
                <a:ea typeface="Inter Bold" pitchFamily="34" charset="-122"/>
                <a:cs typeface="Times New Roman" pitchFamily="18" charset="0"/>
              </a:rPr>
              <a:t>Future Scope:</a:t>
            </a:r>
            <a:r>
              <a:rPr lang="en-US" sz="1200" dirty="0">
                <a:solidFill>
                  <a:srgbClr val="000000"/>
                </a:solidFill>
                <a:latin typeface="Times New Roman" pitchFamily="18" charset="0"/>
                <a:ea typeface="Inter Light" pitchFamily="34" charset="-122"/>
                <a:cs typeface="Times New Roman" pitchFamily="18" charset="0"/>
              </a:rPr>
              <a:t> Build predictive models for customer lifetime value, develop churn prediction using machine learning, create recommendation systems, and automate dashboard refresh using Power BI Service.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516</TotalTime>
  <Words>684</Words>
  <Application>Microsoft Office PowerPoint</Application>
  <PresentationFormat>On-screen Show (16:9)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Times New Roman</vt:lpstr>
      <vt:lpstr>Montserrat Medium</vt:lpstr>
      <vt:lpstr>Inter Light</vt:lpstr>
      <vt:lpstr>Inter Bold</vt:lpstr>
      <vt:lpstr>Century Gothic</vt:lpstr>
      <vt:lpstr>Calibri</vt:lpstr>
      <vt:lpstr>Wingdings 2</vt:lpstr>
      <vt:lpstr>Verdana</vt:lpstr>
      <vt:lpstr>Verve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HP</cp:lastModifiedBy>
  <cp:revision>14</cp:revision>
  <dcterms:created xsi:type="dcterms:W3CDTF">2026-06-28T06:56:21Z</dcterms:created>
  <dcterms:modified xsi:type="dcterms:W3CDTF">2026-06-28T15:38:46Z</dcterms:modified>
</cp:coreProperties>
</file>